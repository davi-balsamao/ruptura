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tch (3 min)" id="{58a6d2d4-3657-e0c1-2be1-4a73008b0755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Anexo" id="{dce07a37-fa5d-e0c0-bfaf-d8fa5ed0427a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E2E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E2E2E"/>
                </a:solidFill>
                <a:latin typeface="+mn-lt"/>
              </a:rPr>
              <a:t>Custo para a Localiza, R$ por mês por contrato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Instalação simples (R$ 4.976 por contrato)</c:v>
                </c:pt>
              </c:strCache>
            </c:strRef>
          </c:tx>
          <c:spPr>
            <a:solidFill>
              <a:srgbClr val="018444"/>
            </a:solidFill>
            <a:effectLst/>
          </c:spPr>
          <c:invertIfNegative val="0"/>
          <c:dLbls>
            <c:numFmt formatCode="&quot;R$ &quot;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E2E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24 meses</c:v>
                  </c:pt>
                  <c:pt idx="1">
                    <c:v>36 meses</c:v>
                  </c:pt>
                  <c:pt idx="2">
                    <c:v>48 meses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207</c:v>
                </c:pt>
                <c:pt idx="1">
                  <c:v>138</c:v>
                </c:pt>
                <c:pt idx="2">
                  <c:v>104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Instalação no teto (R$ 6.476 por contrato)</c:v>
                </c:pt>
              </c:strCache>
            </c:strRef>
          </c:tx>
          <c:spPr>
            <a:solidFill>
              <a:srgbClr val="8CCB9B"/>
            </a:solidFill>
            <a:effectLst/>
          </c:spPr>
          <c:invertIfNegative val="0"/>
          <c:dLbls>
            <c:numFmt formatCode="&quot;R$ &quot;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E2E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24 meses</c:v>
                  </c:pt>
                  <c:pt idx="1">
                    <c:v>36 meses</c:v>
                  </c:pt>
                  <c:pt idx="2">
                    <c:v>48 meses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270</c:v>
                </c:pt>
                <c:pt idx="1">
                  <c:v>180</c:v>
                </c:pt>
                <c:pt idx="2">
                  <c:v>135</c:v>
                </c:pt>
              </c:numCache>
            </c:numRef>
          </c:val>
        </c:ser>
        <c:dLbls>
          <c:numFmt formatCode="&quot;R$ &quot;0" sourceLinked="0"/>
          <c:txPr>
            <a:bodyPr/>
            <a:lstStyle/>
            <a:p>
              <a:pPr>
                <a:defRPr b="0" i="0" strike="noStrike" sz="1200" u="none">
                  <a:solidFill>
                    <a:srgbClr val="2E2E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E2E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6B6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[0:00–0:10] Somos a equipe [nome]. Em três minutos: por que o lead que quer um elétrico acaba assinando um carro a combustão, e como a Localiza muda isso com um pacote que a gente já começou a construir.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[0:10–0:35] O interesse explodiu: os leads de elétrico foram de 1% para 29% em menos de um ano, e 59% dizem que o elétrico aumenta a vontade de assinar. Mas esse lead converte três vezes menos, e oito em cada dez que assinam levam um carro a combustão. Ele confia na Assinatura; não confia no elétrico dentro dela.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[0:35–1:00] Por quê? Das cinco maiores preocupações, a Localiza resolve só a da bateria. As outras são recarga e preço, e são reais: a rede pública tem 21 carros por ponto, quase o dobro da média global; o wallbox custa de 5 a 6,5 mil reais para quem instala; e o preço só aparece com CPF. A calculadora do site nem tem a categoria elétrico.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[1:00–1:20] Nossa resposta é vender o elétrico como um pacote sem atrito, em três frentes: a conta à vista, sem CPF; a recarga em casa inclusa; e a recarga na rua planejada no app. Isso leva a Localiza de uma para quatro das cinco preocupações, e o preço em parte. E o que ela já faz bem, bateria e revenda, vira argumento.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[1:20–1:45] A recarga em casa: o wallbox e a instalação, até 3 mil reais, entram nos planos de 24 a 48 meses. Para a Localiza custa de 104 a 270 reais por mês por contrato. Quem renova segue com o wallbox; quem sai da assinatura fica com ele. No caso-base isso não acrescenta custo à conta e dispensa a retirada; em troca, a Localiza abre mão de reaproveitar o equipamento. O custo de retirar a gente cota com os instaladores no primeiro mês.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[1:45–2:15] E o MVP já funciona. É o Simulador Elétrico: o lead diz onde mora, o prazo e quanto roda, e vê a conta na hora, sem CPF. A mil quilômetros por mês, o elétrico sai 446 reais mais barato que um combustão automático; contra o de entrada, custa 463 a mais e empata perto de 2.300 quilômetros. Na aba Minha rotina ele vê a recarga em casa e as paradas numa viagem. O mapa de eletropostos é a próxima fase.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[2:15–2:45] Como provar: um piloto A/B de 90 dias em São Paulo, onde está a maior malha de recarga do país. No mês 1, o simulador entra no ar e o kit wallbox sai com os instaladores; nos meses 2 a 4, metade dos leads de elétrico recebe o pacote; no mês 5, a Localiza decide com uma métrica só: quantos leads de elétrico assinam elétrico. Pedimos a aprovação do piloto, a cotação oficial e os dados de funil. Obrigado.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7452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38328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589788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15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82512"/>
            <a:ext cx="1033272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36576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_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15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82512"/>
            <a:ext cx="1033272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36576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36576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745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Elétrico sem atrito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3832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Como a Localiza Assinatura transforma o lead que quer um elétrico em assinante de elétrico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5897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Equipe [nome] · Ruptura 2026 · Case 1 Localiza</a:t>
            </a:r>
            <a:endParaRPr lang="en-US" sz="1400" dirty="0"/>
          </a:p>
        </p:txBody>
      </p:sp>
      <p:sp>
        <p:nvSpPr>
          <p:cNvPr id="5" name="arco-externo"/>
          <p:cNvSpPr/>
          <p:nvPr/>
        </p:nvSpPr>
        <p:spPr>
          <a:xfrm>
            <a:off x="8549640" y="1143000"/>
            <a:ext cx="3108960" cy="65836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6" name="arco-interno"/>
          <p:cNvSpPr/>
          <p:nvPr/>
        </p:nvSpPr>
        <p:spPr>
          <a:xfrm>
            <a:off x="8961120" y="1554480"/>
            <a:ext cx="2286000" cy="57607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7" name="raio"/>
          <p:cNvSpPr/>
          <p:nvPr/>
        </p:nvSpPr>
        <p:spPr>
          <a:xfrm>
            <a:off x="9555480" y="2514600"/>
            <a:ext cx="1097280" cy="1417320"/>
          </a:xfrm>
          <a:prstGeom prst="lightningBolt">
            <a:avLst/>
          </a:prstGeom>
          <a:solidFill>
            <a:schemeClr val="accent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O PROBLEMA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 lead quer o elétrico, mas 8 em cada 10 que assinam acabam levando um carro a combustão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825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Fonte: material Localiza do case Ruptura 2026 (pesquisa jul/2026, ~1.000 leads e clientes)</a:t>
            </a:r>
            <a:endParaRPr lang="en-US" sz="1000" dirty="0"/>
          </a:p>
        </p:txBody>
      </p:sp>
      <p:sp>
        <p:nvSpPr>
          <p:cNvPr id="5" name="stat-1"/>
          <p:cNvSpPr/>
          <p:nvPr/>
        </p:nvSpPr>
        <p:spPr>
          <a:xfrm>
            <a:off x="548640" y="2148840"/>
            <a:ext cx="3520440" cy="2514600"/>
          </a:xfrm>
          <a:prstGeom prst="roundRect">
            <a:avLst>
              <a:gd name="adj" fmla="val 581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tat-1-numero"/>
          <p:cNvSpPr txBox="1"/>
          <p:nvPr/>
        </p:nvSpPr>
        <p:spPr>
          <a:xfrm>
            <a:off x="868680" y="25146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1"/>
                </a:solidFill>
              </a:rPr>
              <a:t>1% → 29%</a:t>
            </a:r>
            <a:endParaRPr lang="en-US" sz="5000" dirty="0"/>
          </a:p>
        </p:txBody>
      </p:sp>
      <p:sp>
        <p:nvSpPr>
          <p:cNvPr id="7" name="stat-1-texto"/>
          <p:cNvSpPr txBox="1"/>
          <p:nvPr/>
        </p:nvSpPr>
        <p:spPr>
          <a:xfrm>
            <a:off x="868680" y="36118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dos leads da Assinatura passaram a ser de elétrico, em menos de 1 ano</a:t>
            </a:r>
            <a:endParaRPr lang="en-US" sz="1600" dirty="0"/>
          </a:p>
        </p:txBody>
      </p:sp>
      <p:sp>
        <p:nvSpPr>
          <p:cNvPr id="8" name="stat-2"/>
          <p:cNvSpPr/>
          <p:nvPr/>
        </p:nvSpPr>
        <p:spPr>
          <a:xfrm>
            <a:off x="4325112" y="2148840"/>
            <a:ext cx="3520440" cy="2514600"/>
          </a:xfrm>
          <a:prstGeom prst="roundRect">
            <a:avLst>
              <a:gd name="adj" fmla="val 581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tat-2-numero"/>
          <p:cNvSpPr txBox="1"/>
          <p:nvPr/>
        </p:nvSpPr>
        <p:spPr>
          <a:xfrm>
            <a:off x="4645152" y="25146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1"/>
                </a:solidFill>
              </a:rPr>
              <a:t>3x menos</a:t>
            </a:r>
            <a:endParaRPr lang="en-US" sz="5000" dirty="0"/>
          </a:p>
        </p:txBody>
      </p:sp>
      <p:sp>
        <p:nvSpPr>
          <p:cNvPr id="10" name="stat-2-texto"/>
          <p:cNvSpPr txBox="1"/>
          <p:nvPr/>
        </p:nvSpPr>
        <p:spPr>
          <a:xfrm>
            <a:off x="4645152" y="36118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conversão do lead de elétrico, comparado ao lead de combustão</a:t>
            </a:r>
            <a:endParaRPr lang="en-US" sz="1600" dirty="0"/>
          </a:p>
        </p:txBody>
      </p:sp>
      <p:sp>
        <p:nvSpPr>
          <p:cNvPr id="11" name="stat-3"/>
          <p:cNvSpPr/>
          <p:nvPr/>
        </p:nvSpPr>
        <p:spPr>
          <a:xfrm>
            <a:off x="8101584" y="2148840"/>
            <a:ext cx="3520440" cy="2514600"/>
          </a:xfrm>
          <a:prstGeom prst="roundRect">
            <a:avLst>
              <a:gd name="adj" fmla="val 5818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tat-3-numero"/>
          <p:cNvSpPr txBox="1"/>
          <p:nvPr/>
        </p:nvSpPr>
        <p:spPr>
          <a:xfrm>
            <a:off x="8421624" y="25146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2"/>
                </a:solidFill>
              </a:rPr>
              <a:t>80%</a:t>
            </a:r>
            <a:endParaRPr lang="en-US" sz="5000" dirty="0"/>
          </a:p>
        </p:txBody>
      </p:sp>
      <p:sp>
        <p:nvSpPr>
          <p:cNvPr id="13" name="stat-3-texto"/>
          <p:cNvSpPr txBox="1"/>
          <p:nvPr/>
        </p:nvSpPr>
        <p:spPr>
          <a:xfrm>
            <a:off x="8421624" y="36118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dos leads de elétrico que assinaram levaram um carro a combustão</a:t>
            </a:r>
            <a:endParaRPr lang="en-US" sz="1600" dirty="0"/>
          </a:p>
        </p:txBody>
      </p:sp>
      <p:sp>
        <p:nvSpPr>
          <p:cNvPr id="14" name="faixa-59"/>
          <p:cNvSpPr/>
          <p:nvPr/>
        </p:nvSpPr>
        <p:spPr>
          <a:xfrm>
            <a:off x="548640" y="5029200"/>
            <a:ext cx="11064240" cy="960120"/>
          </a:xfrm>
          <a:prstGeom prst="roundRect">
            <a:avLst>
              <a:gd name="adj" fmla="val 15238"/>
            </a:avLst>
          </a:prstGeom>
          <a:solidFill>
            <a:schemeClr val="bg2"/>
          </a:solidFill>
          <a:ln/>
        </p:spPr>
      </p:sp>
      <p:sp>
        <p:nvSpPr>
          <p:cNvPr id="15" name="frase-59"/>
          <p:cNvSpPr txBox="1"/>
          <p:nvPr/>
        </p:nvSpPr>
        <p:spPr>
          <a:xfrm>
            <a:off x="868680" y="502920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59%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dizem que o elétrico aumenta a vontade de assinar em vez de comprar. A Assinatura é o caminho natural para o elétrico, mas a venda não fecha.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36576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POR QUE A VENDA NÃO FECHA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Localiza resolve só 1 das 5 maiores preocupações do lead: o que trava é recarga e preço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825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Fontes: pesquisa Localiza jul/2026 (material do case); abve.org.br (ago/26) e IEA; loja.intelbras.com.br e em.com.br; assinatura.localiza.com (02/out/2026)</a:t>
            </a:r>
            <a:endParaRPr lang="en-US" sz="1000" dirty="0"/>
          </a:p>
        </p:txBody>
      </p:sp>
      <p:sp>
        <p:nvSpPr>
          <p:cNvPr id="5" name="top5-cartao"/>
          <p:cNvSpPr/>
          <p:nvPr/>
        </p:nvSpPr>
        <p:spPr>
          <a:xfrm>
            <a:off x="548640" y="1874520"/>
            <a:ext cx="6309360" cy="393192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op5-1-circulo"/>
          <p:cNvSpPr/>
          <p:nvPr/>
        </p:nvSpPr>
        <p:spPr>
          <a:xfrm>
            <a:off x="822960" y="21671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op5-1-numero"/>
          <p:cNvSpPr txBox="1"/>
          <p:nvPr/>
        </p:nvSpPr>
        <p:spPr>
          <a:xfrm>
            <a:off x="82296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op5-1-nome"/>
          <p:cNvSpPr txBox="1"/>
          <p:nvPr/>
        </p:nvSpPr>
        <p:spPr>
          <a:xfrm>
            <a:off x="1417320" y="20116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Bateria e vida útil</a:t>
            </a:r>
            <a:endParaRPr lang="en-US" sz="1600" dirty="0"/>
          </a:p>
        </p:txBody>
      </p:sp>
      <p:sp>
        <p:nvSpPr>
          <p:cNvPr id="9" name="top5-1-status-fundo"/>
          <p:cNvSpPr/>
          <p:nvPr/>
        </p:nvSpPr>
        <p:spPr>
          <a:xfrm>
            <a:off x="5166360" y="2212848"/>
            <a:ext cx="141732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top5-1-status-texto"/>
          <p:cNvSpPr txBox="1"/>
          <p:nvPr/>
        </p:nvSpPr>
        <p:spPr>
          <a:xfrm>
            <a:off x="5166360" y="22128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ATENDE</a:t>
            </a:r>
            <a:endParaRPr lang="en-US" sz="1100" dirty="0"/>
          </a:p>
        </p:txBody>
      </p:sp>
      <p:sp>
        <p:nvSpPr>
          <p:cNvPr id="11" name="top5-divisor-1"/>
          <p:cNvSpPr/>
          <p:nvPr/>
        </p:nvSpPr>
        <p:spPr>
          <a:xfrm>
            <a:off x="822960" y="2743200"/>
            <a:ext cx="5760720" cy="0"/>
          </a:xfrm>
          <a:prstGeom prst="line">
            <a:avLst/>
          </a:prstGeom>
          <a:noFill/>
          <a:ln w="12700">
            <a:solidFill>
              <a:srgbClr val="F2F2F2"/>
            </a:solidFill>
            <a:prstDash val="solid"/>
          </a:ln>
        </p:spPr>
      </p:sp>
      <p:sp>
        <p:nvSpPr>
          <p:cNvPr id="12" name="top5-2-circulo"/>
          <p:cNvSpPr/>
          <p:nvPr/>
        </p:nvSpPr>
        <p:spPr>
          <a:xfrm>
            <a:off x="822960" y="289864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op5-2-numero"/>
          <p:cNvSpPr txBox="1"/>
          <p:nvPr/>
        </p:nvSpPr>
        <p:spPr>
          <a:xfrm>
            <a:off x="822960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op5-2-nome"/>
          <p:cNvSpPr txBox="1"/>
          <p:nvPr/>
        </p:nvSpPr>
        <p:spPr>
          <a:xfrm>
            <a:off x="1417320" y="27432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Recarga na rotina (casa, trabalho, rua)</a:t>
            </a:r>
            <a:endParaRPr lang="en-US" sz="1600" dirty="0"/>
          </a:p>
        </p:txBody>
      </p:sp>
      <p:sp>
        <p:nvSpPr>
          <p:cNvPr id="15" name="top5-2-status-fundo"/>
          <p:cNvSpPr/>
          <p:nvPr/>
        </p:nvSpPr>
        <p:spPr>
          <a:xfrm>
            <a:off x="5166360" y="2944368"/>
            <a:ext cx="141732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6" name="top5-2-status-texto"/>
          <p:cNvSpPr txBox="1"/>
          <p:nvPr/>
        </p:nvSpPr>
        <p:spPr>
          <a:xfrm>
            <a:off x="5166360" y="29443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NÃO ATENDE</a:t>
            </a:r>
            <a:endParaRPr lang="en-US" sz="1100" dirty="0"/>
          </a:p>
        </p:txBody>
      </p:sp>
      <p:sp>
        <p:nvSpPr>
          <p:cNvPr id="17" name="top5-divisor-2"/>
          <p:cNvSpPr/>
          <p:nvPr/>
        </p:nvSpPr>
        <p:spPr>
          <a:xfrm>
            <a:off x="822960" y="3474720"/>
            <a:ext cx="5760720" cy="0"/>
          </a:xfrm>
          <a:prstGeom prst="line">
            <a:avLst/>
          </a:prstGeom>
          <a:noFill/>
          <a:ln w="12700">
            <a:solidFill>
              <a:srgbClr val="F2F2F2"/>
            </a:solidFill>
            <a:prstDash val="solid"/>
          </a:ln>
        </p:spPr>
      </p:sp>
      <p:sp>
        <p:nvSpPr>
          <p:cNvPr id="18" name="top5-3-circulo"/>
          <p:cNvSpPr/>
          <p:nvPr/>
        </p:nvSpPr>
        <p:spPr>
          <a:xfrm>
            <a:off x="822960" y="363016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op5-3-numero"/>
          <p:cNvSpPr txBox="1"/>
          <p:nvPr/>
        </p:nvSpPr>
        <p:spPr>
          <a:xfrm>
            <a:off x="82296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op5-3-nome"/>
          <p:cNvSpPr txBox="1"/>
          <p:nvPr/>
        </p:nvSpPr>
        <p:spPr>
          <a:xfrm>
            <a:off x="1417320" y="3474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Wallbox em casa ou no trabalho</a:t>
            </a:r>
            <a:endParaRPr lang="en-US" sz="1600" dirty="0"/>
          </a:p>
        </p:txBody>
      </p:sp>
      <p:sp>
        <p:nvSpPr>
          <p:cNvPr id="21" name="top5-3-status-fundo"/>
          <p:cNvSpPr/>
          <p:nvPr/>
        </p:nvSpPr>
        <p:spPr>
          <a:xfrm>
            <a:off x="5166360" y="3675888"/>
            <a:ext cx="1417320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2" name="top5-3-status-texto"/>
          <p:cNvSpPr txBox="1"/>
          <p:nvPr/>
        </p:nvSpPr>
        <p:spPr>
          <a:xfrm>
            <a:off x="5166360" y="36758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PARCIAL</a:t>
            </a:r>
            <a:endParaRPr lang="en-US" sz="1100" dirty="0"/>
          </a:p>
        </p:txBody>
      </p:sp>
      <p:sp>
        <p:nvSpPr>
          <p:cNvPr id="23" name="top5-divisor-3"/>
          <p:cNvSpPr/>
          <p:nvPr/>
        </p:nvSpPr>
        <p:spPr>
          <a:xfrm>
            <a:off x="822960" y="4206240"/>
            <a:ext cx="5760720" cy="0"/>
          </a:xfrm>
          <a:prstGeom prst="line">
            <a:avLst/>
          </a:prstGeom>
          <a:noFill/>
          <a:ln w="12700">
            <a:solidFill>
              <a:srgbClr val="F2F2F2"/>
            </a:solidFill>
            <a:prstDash val="solid"/>
          </a:ln>
        </p:spPr>
      </p:sp>
      <p:sp>
        <p:nvSpPr>
          <p:cNvPr id="24" name="top5-4-circulo"/>
          <p:cNvSpPr/>
          <p:nvPr/>
        </p:nvSpPr>
        <p:spPr>
          <a:xfrm>
            <a:off x="822960" y="43616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op5-4-numero"/>
          <p:cNvSpPr txBox="1"/>
          <p:nvPr/>
        </p:nvSpPr>
        <p:spPr>
          <a:xfrm>
            <a:off x="822960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op5-4-nome"/>
          <p:cNvSpPr txBox="1"/>
          <p:nvPr/>
        </p:nvSpPr>
        <p:spPr>
          <a:xfrm>
            <a:off x="1417320" y="4206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Mensalidade mais alta que a do combustão</a:t>
            </a:r>
            <a:endParaRPr lang="en-US" sz="1600" dirty="0"/>
          </a:p>
        </p:txBody>
      </p:sp>
      <p:sp>
        <p:nvSpPr>
          <p:cNvPr id="27" name="top5-4-status-fundo"/>
          <p:cNvSpPr/>
          <p:nvPr/>
        </p:nvSpPr>
        <p:spPr>
          <a:xfrm>
            <a:off x="5166360" y="4407408"/>
            <a:ext cx="141732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8" name="top5-4-status-texto"/>
          <p:cNvSpPr txBox="1"/>
          <p:nvPr/>
        </p:nvSpPr>
        <p:spPr>
          <a:xfrm>
            <a:off x="5166360" y="440740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NÃO ATENDE</a:t>
            </a:r>
            <a:endParaRPr lang="en-US" sz="1100" dirty="0"/>
          </a:p>
        </p:txBody>
      </p:sp>
      <p:sp>
        <p:nvSpPr>
          <p:cNvPr id="29" name="top5-divisor-4"/>
          <p:cNvSpPr/>
          <p:nvPr/>
        </p:nvSpPr>
        <p:spPr>
          <a:xfrm>
            <a:off x="822960" y="4937760"/>
            <a:ext cx="5760720" cy="0"/>
          </a:xfrm>
          <a:prstGeom prst="line">
            <a:avLst/>
          </a:prstGeom>
          <a:noFill/>
          <a:ln w="12700">
            <a:solidFill>
              <a:srgbClr val="F2F2F2"/>
            </a:solidFill>
            <a:prstDash val="solid"/>
          </a:ln>
        </p:spPr>
      </p:sp>
      <p:sp>
        <p:nvSpPr>
          <p:cNvPr id="30" name="top5-5-circulo"/>
          <p:cNvSpPr/>
          <p:nvPr/>
        </p:nvSpPr>
        <p:spPr>
          <a:xfrm>
            <a:off x="822960" y="50932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1" name="top5-5-numero"/>
          <p:cNvSpPr txBox="1"/>
          <p:nvPr/>
        </p:nvSpPr>
        <p:spPr>
          <a:xfrm>
            <a:off x="822960" y="5093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32" name="top5-5-nome"/>
          <p:cNvSpPr txBox="1"/>
          <p:nvPr/>
        </p:nvSpPr>
        <p:spPr>
          <a:xfrm>
            <a:off x="1417320" y="49377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Recarga em viagens</a:t>
            </a:r>
            <a:endParaRPr lang="en-US" sz="1600" dirty="0"/>
          </a:p>
        </p:txBody>
      </p:sp>
      <p:sp>
        <p:nvSpPr>
          <p:cNvPr id="33" name="top5-5-status-fundo"/>
          <p:cNvSpPr/>
          <p:nvPr/>
        </p:nvSpPr>
        <p:spPr>
          <a:xfrm>
            <a:off x="5166360" y="5138928"/>
            <a:ext cx="141732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34" name="top5-5-status-texto"/>
          <p:cNvSpPr txBox="1"/>
          <p:nvPr/>
        </p:nvSpPr>
        <p:spPr>
          <a:xfrm>
            <a:off x="5166360" y="51389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NÃO ATENDE</a:t>
            </a:r>
            <a:endParaRPr lang="en-US" sz="1100" dirty="0"/>
          </a:p>
        </p:txBody>
      </p:sp>
      <p:sp>
        <p:nvSpPr>
          <p:cNvPr id="35" name="evidencia-titulo"/>
          <p:cNvSpPr txBox="1"/>
          <p:nvPr/>
        </p:nvSpPr>
        <p:spPr>
          <a:xfrm>
            <a:off x="7178040" y="18745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 as barreiras são concretas</a:t>
            </a:r>
            <a:endParaRPr lang="en-US" sz="1700" dirty="0"/>
          </a:p>
        </p:txBody>
      </p:sp>
      <p:sp>
        <p:nvSpPr>
          <p:cNvPr id="36" name="evidencia-1"/>
          <p:cNvSpPr/>
          <p:nvPr/>
        </p:nvSpPr>
        <p:spPr>
          <a:xfrm>
            <a:off x="7178040" y="2377440"/>
            <a:ext cx="4434840" cy="102412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37" name="evidencia-1-numero"/>
          <p:cNvSpPr txBox="1"/>
          <p:nvPr/>
        </p:nvSpPr>
        <p:spPr>
          <a:xfrm>
            <a:off x="7406640" y="248716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21,4</a:t>
            </a:r>
            <a:endParaRPr lang="en-US" sz="2000" dirty="0"/>
          </a:p>
        </p:txBody>
      </p:sp>
      <p:sp>
        <p:nvSpPr>
          <p:cNvPr id="38" name="evidencia-1-texto"/>
          <p:cNvSpPr txBox="1"/>
          <p:nvPr/>
        </p:nvSpPr>
        <p:spPr>
          <a:xfrm>
            <a:off x="7406640" y="28803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carros elétricos por ponto de recarga público no Brasil, quase o dobro da média global</a:t>
            </a:r>
            <a:endParaRPr lang="en-US" sz="1300" dirty="0"/>
          </a:p>
        </p:txBody>
      </p:sp>
      <p:sp>
        <p:nvSpPr>
          <p:cNvPr id="39" name="evidencia-2"/>
          <p:cNvSpPr/>
          <p:nvPr/>
        </p:nvSpPr>
        <p:spPr>
          <a:xfrm>
            <a:off x="7178040" y="3566160"/>
            <a:ext cx="4434840" cy="102412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40" name="evidencia-2-numero"/>
          <p:cNvSpPr txBox="1"/>
          <p:nvPr/>
        </p:nvSpPr>
        <p:spPr>
          <a:xfrm>
            <a:off x="7406640" y="367588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R$ 5–6,5 mil</a:t>
            </a:r>
            <a:endParaRPr lang="en-US" sz="2000" dirty="0"/>
          </a:p>
        </p:txBody>
      </p:sp>
      <p:sp>
        <p:nvSpPr>
          <p:cNvPr id="41" name="evidencia-2-texto"/>
          <p:cNvSpPr txBox="1"/>
          <p:nvPr/>
        </p:nvSpPr>
        <p:spPr>
          <a:xfrm>
            <a:off x="7406640" y="4069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para comprar e instalar um wallbox em casa, à vista</a:t>
            </a:r>
            <a:endParaRPr lang="en-US" sz="1300" dirty="0"/>
          </a:p>
        </p:txBody>
      </p:sp>
      <p:sp>
        <p:nvSpPr>
          <p:cNvPr id="42" name="evidencia-3"/>
          <p:cNvSpPr/>
          <p:nvPr/>
        </p:nvSpPr>
        <p:spPr>
          <a:xfrm>
            <a:off x="7178040" y="4754880"/>
            <a:ext cx="4434840" cy="102412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43" name="evidencia-3-numero"/>
          <p:cNvSpPr txBox="1"/>
          <p:nvPr/>
        </p:nvSpPr>
        <p:spPr>
          <a:xfrm>
            <a:off x="7406640" y="486460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Só com CPF</a:t>
            </a:r>
            <a:endParaRPr lang="en-US" sz="2000" dirty="0"/>
          </a:p>
        </p:txBody>
      </p:sp>
      <p:sp>
        <p:nvSpPr>
          <p:cNvPr id="44" name="evidencia-3-texto"/>
          <p:cNvSpPr txBox="1"/>
          <p:nvPr/>
        </p:nvSpPr>
        <p:spPr>
          <a:xfrm>
            <a:off x="7406640" y="52578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 preço aparece; e a calculadora do site não tem a categoria Elétrico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36576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A PROPOSTA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Três frentes levam a Localiza de 1 para 4 das 5 maiores preocupações, e o preço em parte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825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Placar a partir da pesquisa Localiza jul/2026 (material do case). Preço: o simulador mostra a conta, mas não fecha a diferença para quem roda pouco</a:t>
            </a:r>
            <a:endParaRPr lang="en-US" sz="1000" dirty="0"/>
          </a:p>
        </p:txBody>
      </p:sp>
      <p:sp>
        <p:nvSpPr>
          <p:cNvPr id="5" name="frente-1"/>
          <p:cNvSpPr/>
          <p:nvPr/>
        </p:nvSpPr>
        <p:spPr>
          <a:xfrm>
            <a:off x="548640" y="2057400"/>
            <a:ext cx="3520440" cy="32918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frente-1-circulo"/>
          <p:cNvSpPr/>
          <p:nvPr/>
        </p:nvSpPr>
        <p:spPr>
          <a:xfrm>
            <a:off x="868680" y="23774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frente-1-numero"/>
          <p:cNvSpPr txBox="1"/>
          <p:nvPr/>
        </p:nvSpPr>
        <p:spPr>
          <a:xfrm>
            <a:off x="8686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frente-1-titulo"/>
          <p:cNvSpPr txBox="1"/>
          <p:nvPr/>
        </p:nvSpPr>
        <p:spPr>
          <a:xfrm>
            <a:off x="868680" y="2971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Conta à vista</a:t>
            </a:r>
            <a:endParaRPr lang="en-US" sz="2000" dirty="0"/>
          </a:p>
        </p:txBody>
      </p:sp>
      <p:sp>
        <p:nvSpPr>
          <p:cNvPr id="9" name="frente-1-texto"/>
          <p:cNvSpPr txBox="1"/>
          <p:nvPr/>
        </p:nvSpPr>
        <p:spPr>
          <a:xfrm>
            <a:off x="868680" y="34747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Simulador Elétrico sem CPF: mensalidade + energia, contra o combustão equivalente</a:t>
            </a:r>
            <a:endParaRPr lang="en-US" sz="1500" dirty="0"/>
          </a:p>
        </p:txBody>
      </p:sp>
      <p:sp>
        <p:nvSpPr>
          <p:cNvPr id="10" name="frente-1-barreira"/>
          <p:cNvSpPr txBox="1"/>
          <p:nvPr/>
        </p:nvSpPr>
        <p:spPr>
          <a:xfrm>
            <a:off x="868680" y="45262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Responde: </a:t>
            </a:r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Preço (#4), em parte</a:t>
            </a:r>
            <a:endParaRPr lang="en-US" sz="1300" dirty="0"/>
          </a:p>
        </p:txBody>
      </p:sp>
      <p:sp>
        <p:nvSpPr>
          <p:cNvPr id="11" name="frente-1-fase-fundo"/>
          <p:cNvSpPr/>
          <p:nvPr/>
        </p:nvSpPr>
        <p:spPr>
          <a:xfrm>
            <a:off x="868680" y="4892040"/>
            <a:ext cx="2103120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2" name="frente-1-fase-texto"/>
          <p:cNvSpPr txBox="1"/>
          <p:nvPr/>
        </p:nvSpPr>
        <p:spPr>
          <a:xfrm>
            <a:off x="868680" y="4892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MVP pronto</a:t>
            </a:r>
            <a:endParaRPr lang="en-US" sz="1100" dirty="0"/>
          </a:p>
        </p:txBody>
      </p:sp>
      <p:sp>
        <p:nvSpPr>
          <p:cNvPr id="13" name="frente-2"/>
          <p:cNvSpPr/>
          <p:nvPr/>
        </p:nvSpPr>
        <p:spPr>
          <a:xfrm>
            <a:off x="4325112" y="2057400"/>
            <a:ext cx="3520440" cy="32918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frente-2-circulo"/>
          <p:cNvSpPr/>
          <p:nvPr/>
        </p:nvSpPr>
        <p:spPr>
          <a:xfrm>
            <a:off x="4645152" y="23774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frente-2-numero"/>
          <p:cNvSpPr txBox="1"/>
          <p:nvPr/>
        </p:nvSpPr>
        <p:spPr>
          <a:xfrm>
            <a:off x="4645152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frente-2-titulo"/>
          <p:cNvSpPr txBox="1"/>
          <p:nvPr/>
        </p:nvSpPr>
        <p:spPr>
          <a:xfrm>
            <a:off x="4645152" y="2971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Recarga em casa inclusa</a:t>
            </a:r>
            <a:endParaRPr lang="en-US" sz="2000" dirty="0"/>
          </a:p>
        </p:txBody>
      </p:sp>
      <p:sp>
        <p:nvSpPr>
          <p:cNvPr id="17" name="frente-2-texto"/>
          <p:cNvSpPr txBox="1"/>
          <p:nvPr/>
        </p:nvSpPr>
        <p:spPr>
          <a:xfrm>
            <a:off x="4645152" y="34747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Wallbox 7,4 kW e instalação até R$ 3.000 inclusos nos planos de 24 a 48 meses</a:t>
            </a:r>
            <a:endParaRPr lang="en-US" sz="1500" dirty="0"/>
          </a:p>
        </p:txBody>
      </p:sp>
      <p:sp>
        <p:nvSpPr>
          <p:cNvPr id="18" name="frente-2-barreira"/>
          <p:cNvSpPr txBox="1"/>
          <p:nvPr/>
        </p:nvSpPr>
        <p:spPr>
          <a:xfrm>
            <a:off x="4645152" y="45262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Responde: </a:t>
            </a:r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Wallbox (#3) e rotina em casa (#2)</a:t>
            </a:r>
            <a:endParaRPr lang="en-US" sz="1300" dirty="0"/>
          </a:p>
        </p:txBody>
      </p:sp>
      <p:sp>
        <p:nvSpPr>
          <p:cNvPr id="19" name="frente-2-fase-fundo"/>
          <p:cNvSpPr/>
          <p:nvPr/>
        </p:nvSpPr>
        <p:spPr>
          <a:xfrm>
            <a:off x="4645152" y="4892040"/>
            <a:ext cx="2103120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20" name="frente-2-fase-texto"/>
          <p:cNvSpPr txBox="1"/>
          <p:nvPr/>
        </p:nvSpPr>
        <p:spPr>
          <a:xfrm>
            <a:off x="4645152" y="4892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Operação com instaladores</a:t>
            </a:r>
            <a:endParaRPr lang="en-US" sz="1100" dirty="0"/>
          </a:p>
        </p:txBody>
      </p:sp>
      <p:sp>
        <p:nvSpPr>
          <p:cNvPr id="21" name="frente-3"/>
          <p:cNvSpPr/>
          <p:nvPr/>
        </p:nvSpPr>
        <p:spPr>
          <a:xfrm>
            <a:off x="8101584" y="2057400"/>
            <a:ext cx="3520440" cy="32918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frente-3-circulo"/>
          <p:cNvSpPr/>
          <p:nvPr/>
        </p:nvSpPr>
        <p:spPr>
          <a:xfrm>
            <a:off x="8421624" y="23774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frente-3-numero"/>
          <p:cNvSpPr txBox="1"/>
          <p:nvPr/>
        </p:nvSpPr>
        <p:spPr>
          <a:xfrm>
            <a:off x="8421624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frente-3-titulo"/>
          <p:cNvSpPr txBox="1"/>
          <p:nvPr/>
        </p:nvSpPr>
        <p:spPr>
          <a:xfrm>
            <a:off x="8421624" y="2971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Recarga na rua planejada</a:t>
            </a:r>
            <a:endParaRPr lang="en-US" sz="2000" dirty="0"/>
          </a:p>
        </p:txBody>
      </p:sp>
      <p:sp>
        <p:nvSpPr>
          <p:cNvPr id="25" name="frente-3-texto"/>
          <p:cNvSpPr txBox="1"/>
          <p:nvPr/>
        </p:nvSpPr>
        <p:spPr>
          <a:xfrm>
            <a:off x="8421624" y="34747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Mapa e rota de eletropostos no app, usando a telemetria de bateria que o app já tem</a:t>
            </a:r>
            <a:endParaRPr lang="en-US" sz="1500" dirty="0"/>
          </a:p>
        </p:txBody>
      </p:sp>
      <p:sp>
        <p:nvSpPr>
          <p:cNvPr id="26" name="frente-3-barreira"/>
          <p:cNvSpPr txBox="1"/>
          <p:nvPr/>
        </p:nvSpPr>
        <p:spPr>
          <a:xfrm>
            <a:off x="8421624" y="45262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Responde: </a:t>
            </a:r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Viagem (#5) e rotina na rua (#2)</a:t>
            </a:r>
            <a:endParaRPr lang="en-US" sz="1300" dirty="0"/>
          </a:p>
        </p:txBody>
      </p:sp>
      <p:sp>
        <p:nvSpPr>
          <p:cNvPr id="27" name="frente-3-fase-fundo"/>
          <p:cNvSpPr/>
          <p:nvPr/>
        </p:nvSpPr>
        <p:spPr>
          <a:xfrm>
            <a:off x="8421624" y="4892040"/>
            <a:ext cx="210312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8" name="frente-3-fase-texto"/>
          <p:cNvSpPr txBox="1"/>
          <p:nvPr/>
        </p:nvSpPr>
        <p:spPr>
          <a:xfrm>
            <a:off x="8421624" y="4892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Próxima fase</a:t>
            </a:r>
            <a:endParaRPr lang="en-US" sz="1100" dirty="0"/>
          </a:p>
        </p:txBody>
      </p:sp>
      <p:sp>
        <p:nvSpPr>
          <p:cNvPr id="29" name="argumento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 o que já é forte vira argumento de venda: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bateria, revenda, pane e manutenção são risco da Localiza, não do cliente.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36576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RECARGA EM CASA · A NOVA REGRA DO WALLBOX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Wallbox incluso custa à Localiza R$ 104 a 270 por mês, e quem sai da assinatura fica com ele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825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Fontes: loja.intelbras.com.br (R$ 3.475,80), em.com.br (instalação). Amortização linear sem custo de capital, sem reuso. Análise G2 validada pelo crítico</a:t>
            </a:r>
            <a:endParaRPr lang="en-US" sz="1000" dirty="0"/>
          </a:p>
        </p:txBody>
      </p:sp>
      <p:sp>
        <p:nvSpPr>
          <p:cNvPr id="5" name="grafico-cartao"/>
          <p:cNvSpPr/>
          <p:nvPr/>
        </p:nvSpPr>
        <p:spPr>
          <a:xfrm>
            <a:off x="548640" y="1920240"/>
            <a:ext cx="5852160" cy="420624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6" name="grafico-wallbox" descr=""/>
          <p:cNvGraphicFramePr/>
          <p:nvPr/>
        </p:nvGraphicFramePr>
        <p:xfrm>
          <a:off x="731520" y="205740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regra-titulo"/>
          <p:cNvSpPr txBox="1"/>
          <p:nvPr/>
        </p:nvSpPr>
        <p:spPr>
          <a:xfrm>
            <a:off x="667512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Como funciona</a:t>
            </a:r>
            <a:endParaRPr lang="en-US" sz="1800" dirty="0"/>
          </a:p>
        </p:txBody>
      </p:sp>
      <p:sp>
        <p:nvSpPr>
          <p:cNvPr id="8" name="regra-1-circulo"/>
          <p:cNvSpPr/>
          <p:nvPr/>
        </p:nvSpPr>
        <p:spPr>
          <a:xfrm>
            <a:off x="6675120" y="243230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regra-1-numero"/>
          <p:cNvSpPr txBox="1"/>
          <p:nvPr/>
        </p:nvSpPr>
        <p:spPr>
          <a:xfrm>
            <a:off x="6675120" y="2432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regra-1-texto"/>
          <p:cNvSpPr txBox="1"/>
          <p:nvPr/>
        </p:nvSpPr>
        <p:spPr>
          <a:xfrm>
            <a:off x="7178040" y="239572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Diagnóstico elétrico antes de assinar, com os instaladores do teste da Meoo</a:t>
            </a:r>
            <a:endParaRPr lang="en-US" sz="1450" dirty="0"/>
          </a:p>
        </p:txBody>
      </p:sp>
      <p:sp>
        <p:nvSpPr>
          <p:cNvPr id="11" name="regra-2-circulo"/>
          <p:cNvSpPr/>
          <p:nvPr/>
        </p:nvSpPr>
        <p:spPr>
          <a:xfrm>
            <a:off x="6675120" y="309067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regra-2-numero"/>
          <p:cNvSpPr txBox="1"/>
          <p:nvPr/>
        </p:nvSpPr>
        <p:spPr>
          <a:xfrm>
            <a:off x="667512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regra-2-texto"/>
          <p:cNvSpPr txBox="1"/>
          <p:nvPr/>
        </p:nvSpPr>
        <p:spPr>
          <a:xfrm>
            <a:off x="7178040" y="305409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Durante o contrato, o wallbox é da Localiza; quem renova segue com ele em comodato</a:t>
            </a:r>
            <a:endParaRPr lang="en-US" sz="1450" dirty="0"/>
          </a:p>
        </p:txBody>
      </p:sp>
      <p:sp>
        <p:nvSpPr>
          <p:cNvPr id="14" name="regra-3-circulo"/>
          <p:cNvSpPr/>
          <p:nvPr/>
        </p:nvSpPr>
        <p:spPr>
          <a:xfrm>
            <a:off x="6675120" y="374904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regra-3-numero"/>
          <p:cNvSpPr txBox="1"/>
          <p:nvPr/>
        </p:nvSpPr>
        <p:spPr>
          <a:xfrm>
            <a:off x="6675120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regra-3-texto"/>
          <p:cNvSpPr txBox="1"/>
          <p:nvPr/>
        </p:nvSpPr>
        <p:spPr>
          <a:xfrm>
            <a:off x="7178040" y="371246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Quem deixa a assinatura fica com o wallbox: sem retirada e sem visita técnica</a:t>
            </a:r>
            <a:endParaRPr lang="en-US" sz="1450" dirty="0"/>
          </a:p>
        </p:txBody>
      </p:sp>
      <p:sp>
        <p:nvSpPr>
          <p:cNvPr id="17" name="regra-custo"/>
          <p:cNvSpPr/>
          <p:nvPr/>
        </p:nvSpPr>
        <p:spPr>
          <a:xfrm>
            <a:off x="6675120" y="4434840"/>
            <a:ext cx="4937760" cy="1691640"/>
          </a:xfrm>
          <a:prstGeom prst="roundRect">
            <a:avLst>
              <a:gd name="adj" fmla="val 8649"/>
            </a:avLst>
          </a:prstGeom>
          <a:solidFill>
            <a:schemeClr val="tx2"/>
          </a:solidFill>
          <a:ln/>
        </p:spPr>
      </p:sp>
      <p:sp>
        <p:nvSpPr>
          <p:cNvPr id="18" name="regra-custo-texto"/>
          <p:cNvSpPr txBox="1"/>
          <p:nvPr/>
        </p:nvSpPr>
        <p:spPr>
          <a:xfrm>
            <a:off x="6949440" y="4526280"/>
            <a:ext cx="4389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No caso-base, isso não acrescenta custo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à conta de amortização e dispensa a retirada. Em troca, a Localiza abre mão do reuso (R$ 36 a 72/mês por contrato de quem sai) e de um motivo de renovar.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Plano de 12 meses: wallbox opcional, com coparticipação.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36576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O MVP · SIMULADOR ELÉTRICO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 MVP já funciona: o lead compara o elétrico com o combustão sem dar CPF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825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Simulador em Python (Streamlit), em entrega/mvp_simulador. Preços indicativos de mercado (byd.com/br, livre.com.br, rentcars.com); energia: cemig.com.br; gasolina: petrobras.com.br</a:t>
            </a:r>
            <a:endParaRPr lang="en-US" sz="1000" dirty="0"/>
          </a:p>
        </p:txBody>
      </p:sp>
      <p:sp>
        <p:nvSpPr>
          <p:cNvPr id="5" name="print-moldura"/>
          <p:cNvSpPr/>
          <p:nvPr/>
        </p:nvSpPr>
        <p:spPr>
          <a:xfrm>
            <a:off x="548640" y="1828800"/>
            <a:ext cx="4964794" cy="4617720"/>
          </a:xfrm>
          <a:prstGeom prst="roundRect">
            <a:avLst>
              <a:gd name="adj" fmla="val 316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print-simulador" descr="C:\Davi\Ruptura\ruptura\entrega\apresentacao\mvp_cus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4781914" cy="4434840"/>
          </a:xfrm>
          <a:prstGeom prst="rect">
            <a:avLst/>
          </a:prstGeom>
        </p:spPr>
      </p:pic>
      <p:sp>
        <p:nvSpPr>
          <p:cNvPr id="7" name="mvp-1-numero"/>
          <p:cNvSpPr txBox="1"/>
          <p:nvPr/>
        </p:nvSpPr>
        <p:spPr>
          <a:xfrm>
            <a:off x="5924914" y="1874520"/>
            <a:ext cx="57181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−R$ 446/mês</a:t>
            </a:r>
            <a:endParaRPr lang="en-US" sz="2400" dirty="0"/>
          </a:p>
        </p:txBody>
      </p:sp>
      <p:sp>
        <p:nvSpPr>
          <p:cNvPr id="8" name="mvp-1-texto"/>
          <p:cNvSpPr txBox="1"/>
          <p:nvPr/>
        </p:nvSpPr>
        <p:spPr>
          <a:xfrm>
            <a:off x="5924914" y="2350008"/>
            <a:ext cx="571814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contra um combustão automático, a 1.000 km/mês com recarga em casa (indicativo de mercado)</a:t>
            </a:r>
            <a:endParaRPr lang="en-US" sz="1400" dirty="0"/>
          </a:p>
        </p:txBody>
      </p:sp>
      <p:sp>
        <p:nvSpPr>
          <p:cNvPr id="9" name="mvp-2-numero"/>
          <p:cNvSpPr txBox="1"/>
          <p:nvPr/>
        </p:nvSpPr>
        <p:spPr>
          <a:xfrm>
            <a:off x="5924914" y="3090672"/>
            <a:ext cx="57181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+R$ 463/mês</a:t>
            </a:r>
            <a:endParaRPr lang="en-US" sz="2400" dirty="0"/>
          </a:p>
        </p:txBody>
      </p:sp>
      <p:sp>
        <p:nvSpPr>
          <p:cNvPr id="10" name="mvp-2-texto"/>
          <p:cNvSpPr txBox="1"/>
          <p:nvPr/>
        </p:nvSpPr>
        <p:spPr>
          <a:xfrm>
            <a:off x="5924914" y="3566160"/>
            <a:ext cx="571814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contra um combustão de entrada; empata a partir de ~2.330 km/mês</a:t>
            </a:r>
            <a:endParaRPr lang="en-US" sz="1400" dirty="0"/>
          </a:p>
        </p:txBody>
      </p:sp>
      <p:sp>
        <p:nvSpPr>
          <p:cNvPr id="11" name="mvp-3-numero"/>
          <p:cNvSpPr txBox="1"/>
          <p:nvPr/>
        </p:nvSpPr>
        <p:spPr>
          <a:xfrm>
            <a:off x="5924914" y="4306824"/>
            <a:ext cx="57181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 abas</a:t>
            </a:r>
            <a:endParaRPr lang="en-US" sz="2400" dirty="0"/>
          </a:p>
        </p:txBody>
      </p:sp>
      <p:sp>
        <p:nvSpPr>
          <p:cNvPr id="12" name="mvp-3-texto"/>
          <p:cNvSpPr txBox="1"/>
          <p:nvPr/>
        </p:nvSpPr>
        <p:spPr>
          <a:xfrm>
            <a:off x="5924914" y="4782312"/>
            <a:ext cx="571814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custo total, minha rotina (recarga em casa e paradas na viagem) e resumo para o consultor no WhatsApp</a:t>
            </a:r>
            <a:endParaRPr lang="en-US" sz="1400" dirty="0"/>
          </a:p>
        </p:txBody>
      </p:sp>
      <p:sp>
        <p:nvSpPr>
          <p:cNvPr id="13" name="mvp-proxima"/>
          <p:cNvSpPr/>
          <p:nvPr/>
        </p:nvSpPr>
        <p:spPr>
          <a:xfrm>
            <a:off x="5924914" y="5532120"/>
            <a:ext cx="5718141" cy="685800"/>
          </a:xfrm>
          <a:prstGeom prst="roundRect">
            <a:avLst>
              <a:gd name="adj" fmla="val 21333"/>
            </a:avLst>
          </a:prstGeom>
          <a:solidFill>
            <a:schemeClr val="accent6"/>
          </a:solidFill>
          <a:ln/>
        </p:spPr>
      </p:sp>
      <p:sp>
        <p:nvSpPr>
          <p:cNvPr id="14" name="mvp-proxima-texto"/>
          <p:cNvSpPr txBox="1"/>
          <p:nvPr/>
        </p:nvSpPr>
        <p:spPr>
          <a:xfrm>
            <a:off x="6107794" y="5532120"/>
            <a:ext cx="535238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Próxima fase: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mapa e rota de eletropostos no app. A tabela oficial de preços entra sem mudar o código.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36576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2"/>
                </a:solidFill>
              </a:rPr>
              <a:t>COMO PROVAR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Um piloto A/B de 90 dias em São Paulo decide no mês 5 se o pacote escala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825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Duração e critérios: proposta da equipe, a calibrar com a Localiza. SP: maior malha de recarga do país (abve.org.br) e Lei 18.403/2026 para condomínios</a:t>
            </a:r>
            <a:endParaRPr lang="en-US" sz="1000" dirty="0"/>
          </a:p>
        </p:txBody>
      </p:sp>
      <p:sp>
        <p:nvSpPr>
          <p:cNvPr id="5" name="fase-1"/>
          <p:cNvSpPr/>
          <p:nvPr/>
        </p:nvSpPr>
        <p:spPr>
          <a:xfrm>
            <a:off x="548640" y="2011680"/>
            <a:ext cx="3520440" cy="2057400"/>
          </a:xfrm>
          <a:prstGeom prst="roundRect">
            <a:avLst>
              <a:gd name="adj" fmla="val 7111"/>
            </a:avLst>
          </a:prstGeom>
          <a:solidFill>
            <a:srgbClr val="1C5C3A"/>
          </a:solidFill>
          <a:ln/>
        </p:spPr>
      </p:sp>
      <p:sp>
        <p:nvSpPr>
          <p:cNvPr id="6" name="fase-1-quando"/>
          <p:cNvSpPr txBox="1"/>
          <p:nvPr/>
        </p:nvSpPr>
        <p:spPr>
          <a:xfrm>
            <a:off x="822960" y="22402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MÊS 1</a:t>
            </a:r>
            <a:endParaRPr lang="en-US" sz="1200" dirty="0"/>
          </a:p>
        </p:txBody>
      </p:sp>
      <p:sp>
        <p:nvSpPr>
          <p:cNvPr id="7" name="fase-1-oque"/>
          <p:cNvSpPr txBox="1"/>
          <p:nvPr/>
        </p:nvSpPr>
        <p:spPr>
          <a:xfrm>
            <a:off x="822960" y="254203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Construir</a:t>
            </a:r>
            <a:endParaRPr lang="en-US" sz="2200" dirty="0"/>
          </a:p>
        </p:txBody>
      </p:sp>
      <p:sp>
        <p:nvSpPr>
          <p:cNvPr id="8" name="fase-1-texto"/>
          <p:cNvSpPr txBox="1"/>
          <p:nvPr/>
        </p:nvSpPr>
        <p:spPr>
          <a:xfrm>
            <a:off x="822960" y="30175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Simulador no site e no WhatsApp; kit wallbox com os instaladores; cotação do custo de retirada</a:t>
            </a:r>
            <a:endParaRPr lang="en-US" sz="1400" dirty="0"/>
          </a:p>
        </p:txBody>
      </p:sp>
      <p:sp>
        <p:nvSpPr>
          <p:cNvPr id="9" name="fase-2"/>
          <p:cNvSpPr/>
          <p:nvPr/>
        </p:nvSpPr>
        <p:spPr>
          <a:xfrm>
            <a:off x="4325112" y="2011680"/>
            <a:ext cx="3520440" cy="2057400"/>
          </a:xfrm>
          <a:prstGeom prst="roundRect">
            <a:avLst>
              <a:gd name="adj" fmla="val 7111"/>
            </a:avLst>
          </a:prstGeom>
          <a:solidFill>
            <a:srgbClr val="1C5C3A"/>
          </a:solidFill>
          <a:ln/>
        </p:spPr>
      </p:sp>
      <p:sp>
        <p:nvSpPr>
          <p:cNvPr id="10" name="fase-2-quando"/>
          <p:cNvSpPr txBox="1"/>
          <p:nvPr/>
        </p:nvSpPr>
        <p:spPr>
          <a:xfrm>
            <a:off x="4599432" y="22402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MESES 2 A 4</a:t>
            </a:r>
            <a:endParaRPr lang="en-US" sz="1200" dirty="0"/>
          </a:p>
        </p:txBody>
      </p:sp>
      <p:sp>
        <p:nvSpPr>
          <p:cNvPr id="11" name="fase-2-oque"/>
          <p:cNvSpPr txBox="1"/>
          <p:nvPr/>
        </p:nvSpPr>
        <p:spPr>
          <a:xfrm>
            <a:off x="4599432" y="254203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Testar</a:t>
            </a:r>
            <a:endParaRPr lang="en-US" sz="2200" dirty="0"/>
          </a:p>
        </p:txBody>
      </p:sp>
      <p:sp>
        <p:nvSpPr>
          <p:cNvPr id="12" name="fase-2-texto"/>
          <p:cNvSpPr txBox="1"/>
          <p:nvPr/>
        </p:nvSpPr>
        <p:spPr>
          <a:xfrm>
            <a:off x="4599432" y="30175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Leads de elétrico de SP sorteados em dois grupos: com o pacote e com o processo atual</a:t>
            </a:r>
            <a:endParaRPr lang="en-US" sz="1400" dirty="0"/>
          </a:p>
        </p:txBody>
      </p:sp>
      <p:sp>
        <p:nvSpPr>
          <p:cNvPr id="13" name="fase-3"/>
          <p:cNvSpPr/>
          <p:nvPr/>
        </p:nvSpPr>
        <p:spPr>
          <a:xfrm>
            <a:off x="8101584" y="2011680"/>
            <a:ext cx="3520440" cy="2057400"/>
          </a:xfrm>
          <a:prstGeom prst="roundRect">
            <a:avLst>
              <a:gd name="adj" fmla="val 7111"/>
            </a:avLst>
          </a:prstGeom>
          <a:solidFill>
            <a:srgbClr val="1C5C3A"/>
          </a:solidFill>
          <a:ln/>
        </p:spPr>
      </p:sp>
      <p:sp>
        <p:nvSpPr>
          <p:cNvPr id="14" name="fase-3-quando"/>
          <p:cNvSpPr txBox="1"/>
          <p:nvPr/>
        </p:nvSpPr>
        <p:spPr>
          <a:xfrm>
            <a:off x="8375904" y="22402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MÊS 5</a:t>
            </a:r>
            <a:endParaRPr lang="en-US" sz="1200" dirty="0"/>
          </a:p>
        </p:txBody>
      </p:sp>
      <p:sp>
        <p:nvSpPr>
          <p:cNvPr id="15" name="fase-3-oque"/>
          <p:cNvSpPr txBox="1"/>
          <p:nvPr/>
        </p:nvSpPr>
        <p:spPr>
          <a:xfrm>
            <a:off x="8375904" y="254203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Decidir</a:t>
            </a:r>
            <a:endParaRPr lang="en-US" sz="2200" dirty="0"/>
          </a:p>
        </p:txBody>
      </p:sp>
      <p:sp>
        <p:nvSpPr>
          <p:cNvPr id="16" name="fase-3-texto"/>
          <p:cNvSpPr txBox="1"/>
          <p:nvPr/>
        </p:nvSpPr>
        <p:spPr>
          <a:xfrm>
            <a:off x="8375904" y="30175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Escalar se o grupo do pacote converter mais em elétrico, dentro do custo por contrato</a:t>
            </a:r>
            <a:endParaRPr lang="en-US" sz="1400" dirty="0"/>
          </a:p>
        </p:txBody>
      </p:sp>
      <p:sp>
        <p:nvSpPr>
          <p:cNvPr id="17" name="metrica"/>
          <p:cNvSpPr/>
          <p:nvPr/>
        </p:nvSpPr>
        <p:spPr>
          <a:xfrm>
            <a:off x="548640" y="4297680"/>
            <a:ext cx="11064240" cy="868680"/>
          </a:xfrm>
          <a:prstGeom prst="roundRect">
            <a:avLst>
              <a:gd name="adj" fmla="val 16842"/>
            </a:avLst>
          </a:prstGeom>
          <a:solidFill>
            <a:schemeClr val="accent2"/>
          </a:solidFill>
          <a:ln/>
        </p:spPr>
      </p:sp>
      <p:sp>
        <p:nvSpPr>
          <p:cNvPr id="18" name="metrica-texto"/>
          <p:cNvSpPr txBox="1"/>
          <p:nvPr/>
        </p:nvSpPr>
        <p:spPr>
          <a:xfrm>
            <a:off x="868680" y="42976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 métrica que decide: </a:t>
            </a:r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% dos leads de elétrico que assinam elétrico. Hoje, 80% dos que assinam levam um combustão.</a:t>
            </a:r>
            <a:endParaRPr lang="en-US" sz="1700" dirty="0"/>
          </a:p>
        </p:txBody>
      </p:sp>
      <p:sp>
        <p:nvSpPr>
          <p:cNvPr id="19" name="pedido"/>
          <p:cNvSpPr txBox="1"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O que pedimos hoje: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aprovar o piloto, liberar a cotação oficial do elétrico × combustão e os dados de funil dos leads de elétrico.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36576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ANEXO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Fontes dos números desta apresentação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825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Lista completa de URLs em entrega/CONCLUSOES.md. Análises e pareceres do crítico em .claude/case/analises/</a:t>
            </a:r>
            <a:endParaRPr lang="en-US" sz="1000" dirty="0"/>
          </a:p>
        </p:txBody>
      </p:sp>
      <p:graphicFrame>
        <p:nvGraphicFramePr>
          <p:cNvPr id="9" name="tabela-font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Tema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Fontes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Pesquisa e números da Localiza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Material oficial do case Ruptura 2026 (pesquisa jul/2026, ~1.000 leads e clientes); assinatura.localiza.com (observado em 02/out/2026)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Preço e custo (G1)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byd.com/br/byd-por-assinatura; livre.com.br; subscription.rentcars.com; precos.petrobras.com.br; cemig.com.br; vrum.com.br. Indicativos de mercado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Wallbox (G2)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loja.intelbras.com.br; em.com.br; assinatura.localiza.com/blog/post/wallbox; al.sp.gov.br (Lei 18.403/2026)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Recarga pública (G3)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abve.org.br; evinfrastructurenews.com (IEA); energy.gov; developers.google.com/maps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Regra de fim de contrato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Análise G2-r6 (delta sobre a G2-r3): custo gerencial do caso-base inalterado; custo fiscal e jurídico da transferência é lacuna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36576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trico sem atrito">
  <a:themeElements>
    <a:clrScheme name="Eletrico sem atrito">
      <a:dk1>
        <a:srgbClr val="2E2E2E"/>
      </a:dk1>
      <a:lt1>
        <a:srgbClr val="FFFFFF"/>
      </a:lt1>
      <a:dk2>
        <a:srgbClr val="004521"/>
      </a:dk2>
      <a:lt2>
        <a:srgbClr val="F2F2F2"/>
      </a:lt2>
      <a:accent1>
        <a:srgbClr val="018444"/>
      </a:accent1>
      <a:accent2>
        <a:srgbClr val="78DE1F"/>
      </a:accent2>
      <a:accent3>
        <a:srgbClr val="6B6B6B"/>
      </a:accent3>
      <a:accent4>
        <a:srgbClr val="B86E14"/>
      </a:accent4>
      <a:accent5>
        <a:srgbClr val="C8463D"/>
      </a:accent5>
      <a:accent6>
        <a:srgbClr val="E3F6D2"/>
      </a:accent6>
      <a:hlink>
        <a:srgbClr val="018444"/>
      </a:hlink>
      <a:folHlink>
        <a:srgbClr val="004521"/>
      </a:folHlink>
    </a:clrScheme>
    <a:fontScheme name="Eletrico sem atrit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Elétrico sem atrito</dc:title>
  <dc:subject>Case 1 Localiza · Ruptura 2026</dc:subject>
  <dc:creator>PptxGenJS</dc:creator>
  <cp:lastModifiedBy>PptxGenJS</cp:lastModifiedBy>
  <cp:revision>1</cp:revision>
  <dcterms:created xsi:type="dcterms:W3CDTF">2026-10-03T00:02:40Z</dcterms:created>
  <dcterms:modified xsi:type="dcterms:W3CDTF">2026-10-03T00:02:40Z</dcterms:modified>
</cp:coreProperties>
</file>